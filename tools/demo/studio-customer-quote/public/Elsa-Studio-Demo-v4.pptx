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4320"/>
            <a:ext cx="50292" cy="20116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0603"/>
            <a:ext cx="429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ELSA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584" y="274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E7E"/>
                </a:solidFill>
                <a:latin typeface="Arial"/>
              </a:rPr>
              <a:t>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265176"/>
            <a:ext cx="301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7D99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6517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795A0"/>
                </a:solidFill>
                <a:latin typeface="Courier New"/>
              </a:rPr>
              <a:t>/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8368"/>
            <a:ext cx="10908792" cy="0"/>
          </a:xfrm>
          <a:prstGeom prst="line">
            <a:avLst/>
          </a:prstGeom>
          <a:ln w="1016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6236208"/>
            <a:ext cx="1734312" cy="0"/>
          </a:xfrm>
          <a:prstGeom prst="line">
            <a:avLst/>
          </a:prstGeom>
          <a:ln w="19050">
            <a:solidFill>
              <a:srgbClr val="12A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Arial"/>
              </a:rPr>
              <a:t>Customer quote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4975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4975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1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API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9872" y="6236208"/>
            <a:ext cx="1734311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9872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Reusable calculation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8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Quote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9663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9663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839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Runtime diagnosis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4559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14559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735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Secret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1554480"/>
            <a:ext cx="228600" cy="2011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1495044"/>
            <a:ext cx="33649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D99"/>
                </a:solidFill>
                <a:latin typeface="Arial"/>
              </a:rPr>
              <a:t>Customer 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892807"/>
            <a:ext cx="370332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42438"/>
                </a:solidFill>
                <a:latin typeface="Arial"/>
              </a:rPr>
              <a:t>A customer
and a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73551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154679"/>
            <a:ext cx="35021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Protected customer lookup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39896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621024"/>
            <a:ext cx="35021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Reusable calculation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06240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087368"/>
            <a:ext cx="35021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One JSON response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426464"/>
            <a:ext cx="6729984" cy="3794760"/>
          </a:xfrm>
          <a:prstGeom prst="rect">
            <a:avLst/>
          </a:prstGeom>
          <a:solidFill>
            <a:srgbClr val="15273A"/>
          </a:solidFill>
          <a:ln w="10160">
            <a:solidFill>
              <a:srgbClr val="26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0056" y="16093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5AAB8"/>
                </a:solidFill>
                <a:latin typeface="Arial"/>
              </a:rPr>
              <a:t>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2472" y="1581912"/>
            <a:ext cx="5193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1F7FA"/>
                </a:solidFill>
                <a:latin typeface="Courier New"/>
              </a:rPr>
              <a:t>POST /workflows/http/quotes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0056" y="2029968"/>
            <a:ext cx="6291072" cy="0"/>
          </a:xfrm>
          <a:prstGeom prst="line">
            <a:avLst/>
          </a:prstGeom>
          <a:ln w="10160">
            <a:solidFill>
              <a:srgbClr val="395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38344" y="2386584"/>
            <a:ext cx="32004" cy="61264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340864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8FA"/>
                </a:solidFill>
                <a:latin typeface="Arial"/>
              </a:rPr>
              <a:t>Customer lookup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5504" y="265176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2B4C0"/>
                </a:solidFill>
                <a:latin typeface="Arial"/>
              </a:rPr>
              <a:t>Local API · C-1042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2450592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7C7D9"/>
                </a:solidFill>
                <a:latin typeface="Arial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51775" y="2386584"/>
            <a:ext cx="32004" cy="61264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88936" y="2340864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8FA"/>
                </a:solidFill>
                <a:latin typeface="Arial"/>
              </a:rPr>
              <a:t>Calculate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88936" y="265176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2B4C0"/>
                </a:solidFill>
                <a:latin typeface="Arial"/>
              </a:rPr>
              <a:t>40 + 2 → 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9447" y="2450592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7C7D9"/>
                </a:solidFill>
                <a:latin typeface="Arial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8632" y="2386584"/>
            <a:ext cx="32004" cy="61264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65792" y="2340864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8FA"/>
                </a:solidFill>
                <a:latin typeface="Arial"/>
              </a:rPr>
              <a:t>Return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265176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2B4C0"/>
                </a:solidFill>
                <a:latin typeface="Arial"/>
              </a:rPr>
              <a:t>HTTP 200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0056" y="3282696"/>
            <a:ext cx="6291072" cy="0"/>
          </a:xfrm>
          <a:prstGeom prst="line">
            <a:avLst/>
          </a:prstGeom>
          <a:ln w="10160">
            <a:solidFill>
              <a:srgbClr val="395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0056" y="347472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5AAB8"/>
                </a:solidFill>
                <a:latin typeface="Arial"/>
              </a:rPr>
              <a:t>JSON RESPONSE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0056" y="3822191"/>
            <a:ext cx="62910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FF6F8"/>
                </a:solidFill>
                <a:latin typeface="Courier New"/>
              </a:rPr>
              <a:t>{"customerId":"C-1042","name":"Alex Morgan","total":42}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0056" y="4727448"/>
            <a:ext cx="6291072" cy="0"/>
          </a:xfrm>
          <a:prstGeom prst="line">
            <a:avLst/>
          </a:prstGeom>
          <a:ln w="10160">
            <a:solidFill>
              <a:srgbClr val="395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0056" y="4901183"/>
            <a:ext cx="6291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FBD"/>
                </a:solidFill>
                <a:latin typeface="Arial"/>
              </a:rPr>
              <a:t>Synthetic local customer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4320"/>
            <a:ext cx="50292" cy="20116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0603"/>
            <a:ext cx="429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ELSA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584" y="274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E7E"/>
                </a:solidFill>
                <a:latin typeface="Arial"/>
              </a:rPr>
              <a:t>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265176"/>
            <a:ext cx="301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7D99"/>
                </a:solidFill>
                <a:latin typeface="Courier New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6517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795A0"/>
                </a:solidFill>
                <a:latin typeface="Courier New"/>
              </a:rPr>
              <a:t>/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8368"/>
            <a:ext cx="10908792" cy="0"/>
          </a:xfrm>
          <a:prstGeom prst="line">
            <a:avLst/>
          </a:prstGeom>
          <a:ln w="1016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Customer quote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4975" y="6236208"/>
            <a:ext cx="1734312" cy="0"/>
          </a:xfrm>
          <a:prstGeom prst="line">
            <a:avLst/>
          </a:prstGeom>
          <a:ln w="19050">
            <a:solidFill>
              <a:srgbClr val="12A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4975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1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Arial"/>
              </a:rPr>
              <a:t>API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9872" y="6236208"/>
            <a:ext cx="1734311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9872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Reusable calculation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8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Quote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9663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9663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839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Runtime diagnosis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4559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14559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735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Secret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1545336"/>
            <a:ext cx="228600" cy="2011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1485900"/>
            <a:ext cx="3685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D99"/>
                </a:solidFill>
                <a:latin typeface="Arial"/>
              </a:rPr>
              <a:t>API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883664"/>
            <a:ext cx="402336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0" b="1" i="0">
                <a:solidFill>
                  <a:srgbClr val="142438"/>
                </a:solidFill>
                <a:latin typeface="Arial"/>
              </a:rPr>
              <a:t>A Secret and a
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64408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145536"/>
            <a:ext cx="3822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Secret: customer-api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30752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611880"/>
            <a:ext cx="3822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HTTP Connection with Bearer authentication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97096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078224"/>
            <a:ext cx="3822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The workflow uses the Connection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1608201"/>
            <a:ext cx="6327648" cy="3559301"/>
          </a:xfrm>
          <a:prstGeom prst="rect">
            <a:avLst/>
          </a:prstGeom>
          <a:solidFill>
            <a:srgbClr val="111A27"/>
          </a:solidFill>
          <a:ln w="8890">
            <a:solidFill>
              <a:srgbClr val="28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pi-conn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8201"/>
            <a:ext cx="6327648" cy="35593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20640" y="5559552"/>
            <a:ext cx="4555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C6E7E"/>
                </a:solidFill>
                <a:latin typeface="Arial"/>
              </a:rPr>
              <a:t>Existing Secret selected for the Bearer Connection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6546" y="5559552"/>
            <a:ext cx="177174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C6E7E"/>
                </a:solidFill>
                <a:latin typeface="Arial"/>
              </a:rPr>
              <a:t>Value hidden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4320"/>
            <a:ext cx="50292" cy="20116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0603"/>
            <a:ext cx="429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ELSA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584" y="274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E7E"/>
                </a:solidFill>
                <a:latin typeface="Arial"/>
              </a:rPr>
              <a:t>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265176"/>
            <a:ext cx="301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7D99"/>
                </a:solidFill>
                <a:latin typeface="Courier New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6517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795A0"/>
                </a:solidFill>
                <a:latin typeface="Courier New"/>
              </a:rPr>
              <a:t>/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8368"/>
            <a:ext cx="10908792" cy="0"/>
          </a:xfrm>
          <a:prstGeom prst="line">
            <a:avLst/>
          </a:prstGeom>
          <a:ln w="1016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Customer quote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4975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4975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1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API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9872" y="6236208"/>
            <a:ext cx="1734311" cy="0"/>
          </a:xfrm>
          <a:prstGeom prst="line">
            <a:avLst/>
          </a:prstGeom>
          <a:ln w="19050">
            <a:solidFill>
              <a:srgbClr val="12A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9872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Arial"/>
              </a:rPr>
              <a:t>Reusable calculation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8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Quote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9663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9663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839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Runtime diagnosis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4559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14559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735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Secret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" y="1737360"/>
            <a:ext cx="5852160" cy="3291840"/>
          </a:xfrm>
          <a:prstGeom prst="rect">
            <a:avLst/>
          </a:prstGeom>
          <a:solidFill>
            <a:srgbClr val="111A27"/>
          </a:solidFill>
          <a:ln w="8890">
            <a:solidFill>
              <a:srgbClr val="28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lculator-publi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37360"/>
            <a:ext cx="5852160" cy="3291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088" y="5449824"/>
            <a:ext cx="42135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C6E7E"/>
                </a:solidFill>
                <a:latin typeface="Arial"/>
              </a:rPr>
              <a:t>CalculateOrderTotal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7643" y="5449824"/>
            <a:ext cx="1638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C6E7E"/>
                </a:solidFill>
                <a:latin typeface="Arial"/>
              </a:rPr>
              <a:t>Published · version 1.1.0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67728" y="1490472"/>
            <a:ext cx="228600" cy="2011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06056" y="1431036"/>
            <a:ext cx="4142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D99"/>
                </a:solidFill>
                <a:latin typeface="Arial"/>
              </a:rPr>
              <a:t>Reusable calculation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1828800"/>
            <a:ext cx="44805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2438"/>
                </a:solidFill>
                <a:latin typeface="Arial"/>
              </a:rPr>
              <a:t>40 + 2 = 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67728" y="2990088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8896" y="2871216"/>
            <a:ext cx="4279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Inputs: Subtotal and Shipping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67728" y="3456432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8896" y="3337560"/>
            <a:ext cx="4279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Output: Total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3922776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68896" y="3803904"/>
            <a:ext cx="4279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Outcome: Calculated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67728" y="4681728"/>
            <a:ext cx="4480560" cy="987552"/>
          </a:xfrm>
          <a:prstGeom prst="rect">
            <a:avLst/>
          </a:prstGeom>
          <a:solidFill>
            <a:srgbClr val="FBFCFC"/>
          </a:solidFill>
          <a:ln w="8890">
            <a:solidFill>
              <a:srgbClr val="D0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67728" y="4681728"/>
            <a:ext cx="41148" cy="98755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87184" y="485546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C6E7E"/>
                </a:solidFill>
                <a:latin typeface="Arial"/>
              </a:rPr>
              <a:t>TEST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510235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438"/>
                </a:solidFill>
                <a:latin typeface="Arial"/>
              </a:rPr>
              <a:t>40 + 2 = 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112" y="5157216"/>
            <a:ext cx="1170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785F"/>
                </a:solidFill>
                <a:latin typeface="Arial"/>
              </a:rPr>
              <a:t>Calculated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4320"/>
            <a:ext cx="50292" cy="20116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0603"/>
            <a:ext cx="429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ELSA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584" y="274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E7E"/>
                </a:solidFill>
                <a:latin typeface="Arial"/>
              </a:rPr>
              <a:t>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265176"/>
            <a:ext cx="301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7D99"/>
                </a:solidFill>
                <a:latin typeface="Courier New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6517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795A0"/>
                </a:solidFill>
                <a:latin typeface="Courier New"/>
              </a:rPr>
              <a:t>/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8368"/>
            <a:ext cx="10908792" cy="0"/>
          </a:xfrm>
          <a:prstGeom prst="line">
            <a:avLst/>
          </a:prstGeom>
          <a:ln w="1016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Customer quote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4975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4975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1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API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9872" y="6236208"/>
            <a:ext cx="1734311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9872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Reusable calculation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6236208"/>
            <a:ext cx="1734312" cy="0"/>
          </a:xfrm>
          <a:prstGeom prst="line">
            <a:avLst/>
          </a:prstGeom>
          <a:ln w="19050">
            <a:solidFill>
              <a:srgbClr val="12A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8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Arial"/>
              </a:rPr>
              <a:t>Quote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9663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9663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839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Runtime diagnosis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4559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14559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735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Secret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1536192"/>
            <a:ext cx="228600" cy="2011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1476756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D99"/>
                </a:solidFill>
                <a:latin typeface="Arial"/>
              </a:rPr>
              <a:t>Quote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874519"/>
            <a:ext cx="379476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42438"/>
                </a:solidFill>
                <a:latin typeface="Arial"/>
              </a:rPr>
              <a:t>One request,
one quote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55264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136392"/>
            <a:ext cx="35935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Look up the customer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21608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602736"/>
            <a:ext cx="35935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Calculate the 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87952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069080"/>
            <a:ext cx="35935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Return the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9320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E7E"/>
                </a:solidFill>
                <a:latin typeface="Courier New"/>
              </a:rPr>
              <a:t>POST /workflows/http/quotes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1253299"/>
            <a:ext cx="6565392" cy="3693033"/>
          </a:xfrm>
          <a:prstGeom prst="rect">
            <a:avLst/>
          </a:prstGeom>
          <a:solidFill>
            <a:srgbClr val="111A27"/>
          </a:solidFill>
          <a:ln w="8890">
            <a:solidFill>
              <a:srgbClr val="28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quote-respo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53299"/>
            <a:ext cx="6565392" cy="369303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92040" y="5010912"/>
            <a:ext cx="47270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C6E7E"/>
                </a:solidFill>
                <a:latin typeface="Arial"/>
              </a:rPr>
              <a:t>Request and synchronous response in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122" y="5010912"/>
            <a:ext cx="18383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C6E7E"/>
                </a:solidFill>
                <a:latin typeface="Arial"/>
              </a:rPr>
              <a:t>Customer ID from lookup route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5330952"/>
            <a:ext cx="6565392" cy="265176"/>
          </a:xfrm>
          <a:prstGeom prst="rect">
            <a:avLst/>
          </a:prstGeom>
          <a:solidFill>
            <a:srgbClr val="FB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92040" y="5330952"/>
            <a:ext cx="32004" cy="26517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56632" y="53583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7E"/>
                </a:solidFill>
                <a:latin typeface="Arial"/>
              </a:rPr>
              <a:t>Customer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353812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C-1042 · Alex Morgan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5641848"/>
            <a:ext cx="6565392" cy="265176"/>
          </a:xfrm>
          <a:prstGeom prst="rect">
            <a:avLst/>
          </a:prstGeom>
          <a:solidFill>
            <a:srgbClr val="FB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92040" y="5641848"/>
            <a:ext cx="32004" cy="26517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6692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7E"/>
                </a:solidFill>
                <a:latin typeface="Arial"/>
              </a:rPr>
              <a:t>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5664708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4320"/>
            <a:ext cx="50292" cy="20116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0603"/>
            <a:ext cx="429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ELSA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584" y="274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E7E"/>
                </a:solidFill>
                <a:latin typeface="Arial"/>
              </a:rPr>
              <a:t>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265176"/>
            <a:ext cx="301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7D99"/>
                </a:solidFill>
                <a:latin typeface="Courier New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6517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795A0"/>
                </a:solidFill>
                <a:latin typeface="Courier New"/>
              </a:rPr>
              <a:t>/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8368"/>
            <a:ext cx="10908792" cy="0"/>
          </a:xfrm>
          <a:prstGeom prst="line">
            <a:avLst/>
          </a:prstGeom>
          <a:ln w="1016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Customer quote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4975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4975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1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API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9872" y="6236208"/>
            <a:ext cx="1734311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9872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Reusable calculation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8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Quote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9663" y="6236208"/>
            <a:ext cx="1734312" cy="0"/>
          </a:xfrm>
          <a:prstGeom prst="line">
            <a:avLst/>
          </a:prstGeom>
          <a:ln w="19050">
            <a:solidFill>
              <a:srgbClr val="12A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9663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839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Arial"/>
              </a:rPr>
              <a:t>Runtime diagnosis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4559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14559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735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Secret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7" y="1445037"/>
            <a:ext cx="6062472" cy="3410140"/>
          </a:xfrm>
          <a:prstGeom prst="rect">
            <a:avLst/>
          </a:prstGeom>
          <a:solidFill>
            <a:srgbClr val="111A27"/>
          </a:solidFill>
          <a:ln w="8890">
            <a:solidFill>
              <a:srgbClr val="28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ody-incid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1445037"/>
            <a:ext cx="6062472" cy="34101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088" y="5010912"/>
            <a:ext cx="43649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C6E7E"/>
                </a:solidFill>
                <a:latin typeface="Arial"/>
              </a:rPr>
              <a:t>Run inspector · Write HTTP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9067" y="5010912"/>
            <a:ext cx="16974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C6E7E"/>
                </a:solidFill>
                <a:latin typeface="Arial"/>
              </a:rPr>
              <a:t>Body input failed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" y="5340096"/>
            <a:ext cx="6062472" cy="612648"/>
          </a:xfrm>
          <a:prstGeom prst="rect">
            <a:avLst/>
          </a:prstGeom>
          <a:solidFill>
            <a:srgbClr val="FB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" y="5340096"/>
            <a:ext cx="36576" cy="612648"/>
          </a:xfrm>
          <a:prstGeom prst="rect">
            <a:avLst/>
          </a:prstGeom>
          <a:solidFill>
            <a:srgbClr val="AD4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50468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D4D53"/>
                </a:solidFill>
                <a:latin typeface="Arial"/>
              </a:rPr>
              <a:t>BODY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" y="5413248"/>
            <a:ext cx="5010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3B42"/>
                </a:solidFill>
                <a:latin typeface="Courier New"/>
              </a:rPr>
              <a:t>profile.segment
Cannot read properties of undefined (reading 'segment')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87184" y="1746504"/>
            <a:ext cx="228600" cy="2011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687068"/>
            <a:ext cx="3895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D99"/>
                </a:solidFill>
                <a:latin typeface="Arial"/>
              </a:rPr>
              <a:t>Runtime diagnosis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4" y="2084831"/>
            <a:ext cx="4233672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42438"/>
                </a:solidFill>
                <a:latin typeface="Arial"/>
              </a:rPr>
              <a:t>The failed
Body input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87184" y="3465575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3346703"/>
            <a:ext cx="40325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Inspect the incident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87184" y="3931920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3813048"/>
            <a:ext cx="40325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Read the input and its error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87184" y="4398264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8352" y="4279392"/>
            <a:ext cx="40325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Fix, publish and retry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4320"/>
            <a:ext cx="50292" cy="20116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60603"/>
            <a:ext cx="429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438"/>
                </a:solidFill>
                <a:latin typeface="Arial"/>
              </a:rPr>
              <a:t>ELSA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584" y="274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E7E"/>
                </a:solidFill>
                <a:latin typeface="Arial"/>
              </a:rPr>
              <a:t>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265176"/>
            <a:ext cx="301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7D99"/>
                </a:solidFill>
                <a:latin typeface="Courier New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6517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795A0"/>
                </a:solidFill>
                <a:latin typeface="Courier New"/>
              </a:rPr>
              <a:t>/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58368"/>
            <a:ext cx="10908792" cy="0"/>
          </a:xfrm>
          <a:prstGeom prst="line">
            <a:avLst/>
          </a:prstGeom>
          <a:ln w="1016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Customer quote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74975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74975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151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API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09872" y="6236208"/>
            <a:ext cx="1734311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09872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048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Reusable calculation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8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Quote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9663" y="6236208"/>
            <a:ext cx="1734312" cy="0"/>
          </a:xfrm>
          <a:prstGeom prst="line">
            <a:avLst/>
          </a:prstGeom>
          <a:ln w="9525">
            <a:solidFill>
              <a:srgbClr val="B9C9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9663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8795A0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839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795A0"/>
                </a:solidFill>
                <a:latin typeface="Arial"/>
              </a:rPr>
              <a:t>Runtime diagnosis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4559" y="6236208"/>
            <a:ext cx="1734312" cy="0"/>
          </a:xfrm>
          <a:prstGeom prst="line">
            <a:avLst/>
          </a:prstGeom>
          <a:ln w="19050">
            <a:solidFill>
              <a:srgbClr val="12A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14559" y="631850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Courier New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735" y="6309360"/>
            <a:ext cx="1469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42438"/>
                </a:solidFill>
                <a:latin typeface="Arial"/>
              </a:rPr>
              <a:t>Secret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1545336"/>
            <a:ext cx="228600" cy="20116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1485900"/>
            <a:ext cx="3630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7D99"/>
                </a:solidFill>
                <a:latin typeface="Arial"/>
              </a:rPr>
              <a:t>Secret rotation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883664"/>
            <a:ext cx="396849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0" b="1" i="0">
                <a:solidFill>
                  <a:srgbClr val="142438"/>
                </a:solidFill>
                <a:latin typeface="Arial"/>
              </a:rPr>
              <a:t>The workflow stays
the same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64408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145536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Update the existing Secret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30752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611880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Send the same request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97096"/>
            <a:ext cx="50292" cy="50292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078224"/>
            <a:ext cx="3767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C6E7E"/>
                </a:solidFill>
                <a:latin typeface="Arial"/>
              </a:rPr>
              <a:t>Confirm 200 and total 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5192" y="1763649"/>
            <a:ext cx="3547872" cy="1995678"/>
          </a:xfrm>
          <a:prstGeom prst="rect">
            <a:avLst/>
          </a:prstGeom>
          <a:solidFill>
            <a:srgbClr val="111A27"/>
          </a:solidFill>
          <a:ln w="8890">
            <a:solidFill>
              <a:srgbClr val="28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ecret-ro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763649"/>
            <a:ext cx="3547872" cy="199567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65192" y="4096512"/>
            <a:ext cx="25544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C6E7E"/>
                </a:solidFill>
                <a:latin typeface="Arial"/>
              </a:rPr>
              <a:t>Secret rotated in Studio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9659" y="4096512"/>
            <a:ext cx="9934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C6E7E"/>
                </a:solidFill>
                <a:latin typeface="Arial"/>
              </a:rPr>
              <a:t>Credential hidden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41664" y="1527048"/>
            <a:ext cx="2715768" cy="41148"/>
          </a:xfrm>
          <a:prstGeom prst="rect">
            <a:avLst/>
          </a:prstGeom>
          <a:solidFill>
            <a:srgbClr val="12A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41664" y="1719072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C6E7E"/>
                </a:solidFill>
                <a:latin typeface="Arial"/>
              </a:rPr>
              <a:t>SAFE API RECEIPT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1664" y="2139696"/>
            <a:ext cx="2715768" cy="0"/>
          </a:xfrm>
          <a:prstGeom prst="line">
            <a:avLst/>
          </a:prstGeom>
          <a:ln w="889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41664" y="224942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8795A0"/>
                </a:solidFill>
                <a:latin typeface="Arial"/>
              </a:rPr>
              <a:t>WORKFLOW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2221991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42438"/>
                </a:solidFill>
                <a:latin typeface="Arial"/>
              </a:rPr>
              <a:t>Same publication · 3.0.0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41664" y="2779776"/>
            <a:ext cx="2715768" cy="0"/>
          </a:xfrm>
          <a:prstGeom prst="line">
            <a:avLst/>
          </a:prstGeom>
          <a:ln w="889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41664" y="288950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8795A0"/>
                </a:solidFill>
                <a:latin typeface="Arial"/>
              </a:rPr>
              <a:t>SECRET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82912" y="2862072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42438"/>
                </a:solidFill>
                <a:latin typeface="Arial"/>
              </a:rPr>
              <a:t>Version 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741664" y="3419856"/>
            <a:ext cx="2715768" cy="0"/>
          </a:xfrm>
          <a:prstGeom prst="line">
            <a:avLst/>
          </a:prstGeom>
          <a:ln w="8890">
            <a:solidFill>
              <a:srgbClr val="D0D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741664" y="35295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8795A0"/>
                </a:solidFill>
                <a:latin typeface="Arial"/>
              </a:rPr>
              <a:t>RESPONSE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82912" y="3502151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42438"/>
                </a:solidFill>
                <a:latin typeface="Arial"/>
              </a:rPr>
              <a:t>HTTP 200 · total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